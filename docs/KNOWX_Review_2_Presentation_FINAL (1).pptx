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1" r:id="rId3"/>
    <p:sldId id="285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86" r:id="rId13"/>
    <p:sldId id="287" r:id="rId14"/>
    <p:sldId id="288" r:id="rId15"/>
    <p:sldId id="289" r:id="rId16"/>
    <p:sldId id="290" r:id="rId17"/>
    <p:sldId id="279" r:id="rId18"/>
    <p:sldId id="280" r:id="rId19"/>
    <p:sldId id="281" r:id="rId20"/>
    <p:sldId id="283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9900"/>
    <a:srgbClr val="E84845"/>
    <a:srgbClr val="FAD2D2"/>
    <a:srgbClr val="F89E4C"/>
    <a:srgbClr val="A81E24"/>
    <a:srgbClr val="FFF2CC"/>
    <a:srgbClr val="CF2F33"/>
    <a:srgbClr val="BA2532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8" autoAdjust="0"/>
    <p:restoredTop sz="93741" autoAdjust="0"/>
  </p:normalViewPr>
  <p:slideViewPr>
    <p:cSldViewPr snapToGrid="0" showGuides="1">
      <p:cViewPr varScale="1">
        <p:scale>
          <a:sx n="62" d="100"/>
          <a:sy n="62" d="100"/>
        </p:scale>
        <p:origin x="888" y="44"/>
      </p:cViewPr>
      <p:guideLst>
        <p:guide orient="horz" pos="2131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customXml" Target="../customXml/item3.xml"/><Relationship Id="rId27" Type="http://schemas.openxmlformats.org/officeDocument/2006/relationships/customXml" Target="../customXml/item2.xml"/><Relationship Id="rId26" Type="http://schemas.openxmlformats.org/officeDocument/2006/relationships/customXml" Target="../customXml/item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2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3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  <a:endParaRPr lang="en-US" sz="8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2926080" y="187451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BF0000"/>
                </a:solidFill>
                <a:latin typeface="Aptos"/>
              </a:rPr>
              <a:t>KNOWX</a:t>
            </a:r>
            <a:endParaRPr sz="38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028" name="TextBox 1027"/>
          <p:cNvSpPr txBox="1"/>
          <p:nvPr/>
        </p:nvSpPr>
        <p:spPr>
          <a:xfrm>
            <a:off x="2240280" y="26060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D2D2D"/>
                </a:solidFill>
                <a:latin typeface="Aptos"/>
              </a:rPr>
              <a:t>Hybrid RAG Framework for Enterprise Knowledge Management</a:t>
            </a:r>
            <a:endParaRPr sz="23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029" name="TextBox 1028"/>
          <p:cNvSpPr txBox="1"/>
          <p:nvPr/>
        </p:nvSpPr>
        <p:spPr>
          <a:xfrm>
            <a:off x="4023360" y="3657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96969"/>
                </a:solidFill>
                <a:latin typeface="Aptos"/>
              </a:rPr>
              <a:t>Review – 2</a:t>
            </a:r>
            <a:endParaRPr sz="16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030" name="TextBox 1029"/>
          <p:cNvSpPr txBox="1"/>
          <p:nvPr/>
        </p:nvSpPr>
        <p:spPr>
          <a:xfrm>
            <a:off x="2148840" y="42062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D2D2D"/>
                </a:solidFill>
                <a:latin typeface="Aptos"/>
              </a:rPr>
              <a:t>Methodology | System Design | Implementation | Results | Evaluation</a:t>
            </a:r>
            <a:endParaRPr sz="1100" b="0">
              <a:solidFill>
                <a:srgbClr val="2D2D2D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0" y="1384935"/>
            <a:ext cx="8896350" cy="399986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2783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Problem Statement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The problem we are trying to solve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98755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Company information is spread across reports, presentations and different documents.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A keyword search works well when the exact words are present.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But users can ask the same question using different words.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Semantic search helps with meaning, but exact terms and numbers can still be missed.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KNOWX combines both before the answer is generated.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94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Example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533095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“What are Microsoft's major sources of revenue?”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00532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Objectives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What we are building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1.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25880" y="1965960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Prepare enterprise documents and split them into searchable chunks.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2.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5880" y="2523744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Use Sentence Transformers + FAISS for semantic search.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081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3.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25880" y="3081528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Use BM25 for exact keyword matching.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4.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3639312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Combine both rankings using Reciprocal Rank Fusion (RRF).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19709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5.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25880" y="4197096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Rerank the retrieved chunks using a cross-encoder.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79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6.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25880" y="4754879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Generate a grounded answer using Llama 3 8B.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31266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7.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25880" y="5312664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Evaluate the complete pipeline against simpler approaches.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37362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Methodology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The implementation is being done in this order.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Documents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7784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PDF / DOCX / PPTX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65376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75688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0552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Chunking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30552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searchable text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8144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8456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FAISS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03320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semantic search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10912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21224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BM25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76088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keyword search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793992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8855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RRF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48855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combine ranks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56448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366760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Reranker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21624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select evidence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29216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939528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94392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Llama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94392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generate answer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4400" y="38404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0000"/>
                </a:solidFill>
                <a:latin typeface="Aptos"/>
              </a:rPr>
              <a:t>The main idea: retrieve useful evidence first, then ask the LLM to answer from that evidence.</a:t>
            </a:r>
            <a:endParaRPr sz="1600" b="1">
              <a:solidFill>
                <a:srgbClr val="BF0000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3799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System Design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Query flow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417320" cy="68580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Aptos"/>
              </a:rPr>
              <a:t>User
Question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40280" y="23591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F0000"/>
                </a:solidFill>
                <a:latin typeface="Aptos"/>
              </a:rPr>
              <a:t>→</a:t>
            </a:r>
            <a:endParaRPr sz="18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651760" y="1645920"/>
            <a:ext cx="1828800" cy="621792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1847088"/>
            <a:ext cx="1682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Aptos"/>
              </a:rPr>
              <a:t>Semantic Search</a:t>
            </a:r>
            <a:endParaRPr sz="13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651760" y="2788920"/>
            <a:ext cx="1828800" cy="621792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2990088"/>
            <a:ext cx="1682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Aptos"/>
              </a:rPr>
              <a:t>BM25 Search</a:t>
            </a:r>
            <a:endParaRPr sz="13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234086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F0000"/>
                </a:solidFill>
                <a:latin typeface="Aptos"/>
              </a:rPr>
              <a:t>→</a:t>
            </a:r>
            <a:endParaRPr sz="18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83480" y="2194560"/>
            <a:ext cx="1417320" cy="658368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Aptos"/>
              </a:rPr>
              <a:t>RRF</a:t>
            </a:r>
            <a:endParaRPr sz="15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46520" y="24048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F0000"/>
                </a:solidFill>
                <a:latin typeface="Aptos"/>
              </a:rPr>
              <a:t>→</a:t>
            </a:r>
            <a:endParaRPr sz="18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12280" y="2194560"/>
            <a:ext cx="1600200" cy="658368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240487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Aptos"/>
              </a:rPr>
              <a:t>Reranker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58200" y="24048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F0000"/>
                </a:solidFill>
                <a:latin typeface="Aptos"/>
              </a:rPr>
              <a:t>→</a:t>
            </a:r>
            <a:endParaRPr sz="18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823960" y="2194560"/>
            <a:ext cx="1828800" cy="658368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4048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Aptos"/>
              </a:rPr>
              <a:t>Llama 3 8B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42519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0000"/>
                </a:solidFill>
                <a:latin typeface="Aptos"/>
              </a:rPr>
              <a:t>Metadata is kept with every chunk: company, document name and chunk number.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34440" y="4709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Aptos"/>
              </a:rPr>
              <a:t>This is what we will use for source traceability in the final answer.</a:t>
            </a:r>
            <a:endParaRPr sz="1300" b="0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1386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Modern Tools and Technologies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453895"/>
            <a:ext cx="1037844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Python 3.11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GPU-side development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Sentence Transformers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0" y="20391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semantic embeddings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2514599"/>
            <a:ext cx="1037844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946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FAISS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40480" y="2569463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vector similarity search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309981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BM25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40480" y="3099815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keyword search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3575303"/>
            <a:ext cx="1037844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301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RRF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0" y="3630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rank fusion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Cross-Encoder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40480" y="4160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reranking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" y="4636007"/>
            <a:ext cx="1037844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9087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Llama 3 8B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40480" y="4690871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answer generation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522122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NVIDIA A100 80GB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40480" y="5221223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GPU inference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1767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Implementation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Current project execution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6766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9 documents processed from Microsoft, NVIDIA and Infosys.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5,000,829 characters extracted.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6,256 chunks created.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FAISS: 6,256 vectors with 384 dimensions.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BM25 index: 6,256 chunks.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10 semantic + 10 BM25 candidates are used for hybrid retrieval.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Cross-encoder returns the final top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91640"/>
            <a:ext cx="2514600" cy="333756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93852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F0000"/>
                </a:solidFill>
                <a:latin typeface="Aptos"/>
              </a:rPr>
              <a:t>9</a:t>
            </a:r>
            <a:endParaRPr sz="21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11312" y="22585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documents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11312" y="26517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F0000"/>
                </a:solidFill>
                <a:latin typeface="Aptos"/>
              </a:rPr>
              <a:t>6,256</a:t>
            </a:r>
            <a:endParaRPr sz="21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11312" y="29718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chunks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11312" y="3364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F0000"/>
                </a:solidFill>
                <a:latin typeface="Aptos"/>
              </a:rPr>
              <a:t>384</a:t>
            </a:r>
            <a:endParaRPr sz="21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11312" y="36850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dimensions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11312" y="40782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F0000"/>
                </a:solidFill>
                <a:latin typeface="Aptos"/>
              </a:rPr>
              <a:t>5</a:t>
            </a:r>
            <a:endParaRPr sz="21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11312" y="43982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final chunks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08152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Results So Far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Test query: “What are Microsoft's major sources of revenue?”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Retrieval output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0000"/>
                </a:solidFill>
                <a:latin typeface="Aptos"/>
              </a:rPr>
              <a:t>Semantic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10</a:t>
            </a:r>
            <a:endParaRPr sz="12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29000" y="2011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0000"/>
                </a:solidFill>
                <a:latin typeface="Aptos"/>
              </a:rPr>
              <a:t>BM25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29000" y="2359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10</a:t>
            </a:r>
            <a:endParaRPr sz="12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80759" y="2011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0000"/>
                </a:solidFill>
                <a:latin typeface="Aptos"/>
              </a:rPr>
              <a:t>RRF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80759" y="2359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19 unique</a:t>
            </a:r>
            <a:endParaRPr sz="12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32519" y="2011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0000"/>
                </a:solidFill>
                <a:latin typeface="Aptos"/>
              </a:rPr>
              <a:t>Reranker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32519" y="2359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5</a:t>
            </a:r>
            <a:endParaRPr sz="12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Top reranked chunks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" y="3520440"/>
            <a:ext cx="914400" cy="36576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602736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Rank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37360" y="3520440"/>
            <a:ext cx="2743200" cy="36576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55648" y="3602736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Company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480560" y="3520440"/>
            <a:ext cx="1371600" cy="36576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3602736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Chunk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852160" y="3520440"/>
            <a:ext cx="1554480" cy="36576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3602736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Score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2960" y="3886200"/>
            <a:ext cx="9144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959352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1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37360" y="3886200"/>
            <a:ext cx="27432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55648" y="3959352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Microsoft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480560" y="3886200"/>
            <a:ext cx="13716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95935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264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52160" y="3886200"/>
            <a:ext cx="155448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0448" y="3959352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1.9001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22960" y="4251960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325112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2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737360" y="4251960"/>
            <a:ext cx="27432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55648" y="4325112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Microsoft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80560" y="4251960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432511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342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852160" y="4251960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70448" y="4325112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1.6605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22960" y="4617720"/>
            <a:ext cx="9144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4690872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3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737360" y="4617720"/>
            <a:ext cx="27432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55648" y="4690872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Microsoft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480560" y="4617720"/>
            <a:ext cx="13716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98848" y="469087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123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852160" y="4617720"/>
            <a:ext cx="155448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0448" y="4690872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0.6038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22960" y="4983480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5056632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4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737360" y="4983480"/>
            <a:ext cx="27432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55648" y="5056632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Microsoft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480560" y="4983480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98848" y="505663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201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52160" y="4983480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70448" y="5056632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-1.1507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22960" y="5349240"/>
            <a:ext cx="9144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" y="5422392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5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737360" y="5349240"/>
            <a:ext cx="27432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55648" y="5422392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Microsoft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480560" y="5349240"/>
            <a:ext cx="13716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98848" y="542239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140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852160" y="5349240"/>
            <a:ext cx="155448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70448" y="5422392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-1.8751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22960" y="5897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These are reranker scores, not accuracy percentages.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9 0913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9 0914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45" y="0"/>
            <a:ext cx="11801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9 0914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85" y="0"/>
            <a:ext cx="116954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9 0914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0" y="0"/>
            <a:ext cx="117525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9 0915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95" y="0"/>
            <a:ext cx="11737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2783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Performance Evaluation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Already measured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297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Number of indexed documents/chunks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Semantic candidate count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BM25 candidate count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RRF candidate count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Final reranked chunks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To be measured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192024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Recall@k and MRR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Semantic-only vs BM25 vs hybrid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Effect of reranking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Answer relevance / faithfulness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End-to-end latency on A100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12080"/>
            <a:ext cx="9326880" cy="64008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413248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0000"/>
                </a:solidFill>
                <a:latin typeface="Aptos"/>
              </a:rPr>
              <a:t>We will report an accuracy/quality number only after running the labelled evaluation set.</a:t>
            </a:r>
            <a:endParaRPr sz="1300" b="1">
              <a:solidFill>
                <a:srgbClr val="BF0000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2783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Innovation and Novelty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What is different in our approach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0000"/>
                </a:solidFill>
                <a:latin typeface="Aptos"/>
              </a:rPr>
              <a:t>Hybrid search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Uses semantic meaning and exact keyword matching together.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0000"/>
                </a:solidFill>
                <a:latin typeface="Aptos"/>
              </a:rPr>
              <a:t>RRF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2670048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Combines the rankings without depending on their raw score scales.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3284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0000"/>
                </a:solidFill>
                <a:latin typeface="Aptos"/>
              </a:rPr>
              <a:t>Reranking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0" y="3328416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Checks the strongest candidates again before generation.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9867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0000"/>
                </a:solidFill>
                <a:latin typeface="Aptos"/>
              </a:rPr>
              <a:t>Traceability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0400" y="3986784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Company, document and chunk information stays attached.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6451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0000"/>
                </a:solidFill>
                <a:latin typeface="Aptos"/>
              </a:rPr>
              <a:t>Practicality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4645152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Each stage can be tested separately instead of using one large black box.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18312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Project Execution – Review 2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F0000"/>
                </a:solidFill>
                <a:latin typeface="Aptos"/>
              </a:rPr>
              <a:t>Completed</a:t>
            </a:r>
            <a:endParaRPr sz="19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657600" cy="298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Ingestion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Chunking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FAISS index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BM25 index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Hybrid retrieval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Reranking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>
                <a:sym typeface="+mn-ea"/>
              </a:rPr>
              <a:t>Run Llama 3 8B on A100</a:t>
            </a:r>
            <a:endParaRPr>
              <a:sym typeface="+mn-ea"/>
            </a:endParaRP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>
                <a:sym typeface="+mn-ea"/>
              </a:rPr>
              <a:t>Add source citations</a:t>
            </a:r>
            <a:endParaRPr>
              <a:sym typeface="+mn-ea"/>
            </a:endParaRP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806440" y="1508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F0000"/>
                </a:solidFill>
                <a:latin typeface="Aptos"/>
              </a:rPr>
              <a:t>Next steps</a:t>
            </a:r>
            <a:endParaRPr sz="19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06440" y="1920240"/>
            <a:ext cx="4206240" cy="1655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Prepare evaluation questions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lang="en-US"/>
              <a:t>Complete Frontend Integration</a:t>
            </a:r>
            <a:endParaRPr lang="en-US"/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Complete paper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lang="en-US"/>
              <a:t>Evaluation results of model</a:t>
            </a:r>
            <a:endParaRPr lang="en-US"/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Aptos"/>
              </a:rPr>
              <a:t>The retrieval side is working. The next major step is connecting the GPU generation stage.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2783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Key References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Lewis et al. (2020) – Retrieval-Augmented Generation for Knowledge-Intensive NLP Tasks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Karpukhin et al. (2020) – Dense Passage Retrieval for Open-Domain Question Answering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Guu et al. (2020) – REALM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Asai et al. (2023) – Self-RAG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Gao et al. (2023) – HyDE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Yan et al. (2024) – Corrective RAG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Edge et al. (2024) – GraphRAG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Sarthi et al. (2024) – RAPTOR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Yu et al. (2025) – EKRAG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Lee et al. (2025) – HybGRAG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Tua &amp; Fitrianah (2026) – enterprise hybrid retrieval / reranking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63240" y="256032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BF0000"/>
                </a:solidFill>
                <a:latin typeface="Aptos"/>
              </a:rPr>
              <a:t>THANK YOU</a:t>
            </a:r>
            <a:endParaRPr sz="3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3291840"/>
            <a:ext cx="8046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400" b="0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A00F5F-5366-4B1C-9406-30DECA796ABB}">
  <ds:schemaRefs/>
</ds:datastoreItem>
</file>

<file path=customXml/itemProps2.xml><?xml version="1.0" encoding="utf-8"?>
<ds:datastoreItem xmlns:ds="http://schemas.openxmlformats.org/officeDocument/2006/customXml" ds:itemID="{EBBD0A98-E68B-4DAA-8964-2F739D6D4075}">
  <ds:schemaRefs/>
</ds:datastoreItem>
</file>

<file path=customXml/itemProps3.xml><?xml version="1.0" encoding="utf-8"?>
<ds:datastoreItem xmlns:ds="http://schemas.openxmlformats.org/officeDocument/2006/customXml" ds:itemID="{C89A6ECA-0C1B-4F00-836D-A696F073E5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4231</Words>
  <Application>WPS Presentation</Application>
  <PresentationFormat>Widescreen</PresentationFormat>
  <Paragraphs>370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Aptos</vt:lpstr>
      <vt:lpstr>Segoe UI</vt:lpstr>
      <vt:lpstr>Microsoft YaHei</vt:lpstr>
      <vt:lpstr>Arial Unicode MS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manas</cp:lastModifiedBy>
  <cp:revision>412</cp:revision>
  <dcterms:created xsi:type="dcterms:W3CDTF">2020-02-08T09:57:00Z</dcterms:created>
  <dcterms:modified xsi:type="dcterms:W3CDTF">2026-09-19T04:01:01Z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91582D1A1A334D429783D392B1A2ED47_13</vt:lpwstr>
  </property>
  <property fmtid="{D5CDD505-2E9C-101B-9397-08002B2CF9AE}" pid="4" name="KSOProductBuildVer">
    <vt:lpwstr>1033-12.1.0.28485</vt:lpwstr>
  </property>
</Properties>
</file>